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D962DA-794D-470B-84B6-357D69B15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19E665-F6A0-4601-AF02-F7823D6B4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84BD95-79F9-4EA7-A044-05362B98A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EEFBDA-B6FD-4C47-B261-94E9DC78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0F3DE-576F-49AD-8100-BDBDBC53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848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B39C24-4221-447A-B7F0-7513C7E7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8D9C37-8FE2-45BD-9958-7D0A9D9B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40C850-C94C-4420-AEC8-FF013B59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E10083-3029-4E2B-9868-9D0F236A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F13EED-500D-476F-8BD6-AA1A1691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768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FCFA2-6E98-4EB5-B9D7-C2483FE9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B356F6-3C31-4CB1-B6A1-34C6551A6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ABEA55-1D32-418D-9F0A-3632D5CE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54556D-B67E-47B0-9EC7-FCC567C4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3E2EA4-742E-45FC-879C-DC118D5B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87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A60FAE-068A-475D-9E6C-3D085DEE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39E82F-D4F0-4917-B1BB-73A33A83B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A00554-BED4-417A-A2ED-6F8B6CA24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61433D-5EE6-4F24-A1AB-57C0506A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73A6E6-A19E-42BD-9006-AAE519601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BF1F56-821C-4413-BDDC-69028344D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42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26628-DADA-4441-B53E-EAB337C0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AE173D-4C08-409D-8D9F-77727A423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2"/>
            <a:ext cx="5157787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B4EE9-8AA4-45CC-B9EE-1CD7029B6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943FF0-3C98-4D27-9219-73AF77D5F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2"/>
            <a:ext cx="5183188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A69F262-4003-4A67-AF03-B2323C2C6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42E6B0-F9C4-4297-A7B4-499159DF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FEE6C66-AF0C-4B3F-AA45-AD67482E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723807C-2642-4386-8A6A-597826D7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275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969C9-82D7-4093-95D8-C6F397436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F048AD-CE7C-489F-8456-AF4D0E67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46F496F-A5EF-418D-A8AF-1B3B95AE8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2A2D6CA-078D-4229-9C8C-E50C2EA1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746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284000-7E83-4EA1-A3CA-0B6C009A9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9D764F8-7B7C-4BA0-A442-419E693B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89BF22-6951-4B1F-BB05-53C4D218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751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B344A-4B13-4BD8-8AC0-11AAA8C2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283A39-223A-46D2-933A-5391128A5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97CEAF7-3AD7-4B3F-879D-7A233E2F5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330979-A41C-4447-A8CD-A5727360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FE6472-5A82-4B93-B41C-370529F9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9A0F53-C3D8-45DD-A4B8-6300C3C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568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B729CC-C72E-4C76-A672-90E0DCBE6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4CCEA2-0807-454C-95BF-9CA1DE3FA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C6C0270-1FAD-4787-AD72-E2236A021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AE7EF5-EE4A-4BD3-91B5-A431D2A6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09B1CC-6576-43E4-8C49-8CACBA58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16CB0B4-6368-4647-8D9C-D4416C2D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753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126304-702A-4A8C-A727-BC63C5A80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FED34D-83E3-4B61-9712-F4C2260FB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FFF1DA-6B05-43A2-BE9B-FBC812E2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B060FA-F680-40FD-B5A1-EBDDCDBA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A13C48-FB26-493E-A1B9-FF8FCB66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97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989D1E-E821-4880-8AA2-3761DB433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D8C69E-7E3D-4708-A71F-542FCF1C3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5AD39A-F5C2-4EC6-B700-86F16A74A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D3CBCC-CB88-48D5-9846-D45C590B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BD9AD8-0AAF-4E55-8E23-BA004500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47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4DCAEB5-06EF-45B6-A637-CABBE647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47A3D4-76F2-4190-B63A-88A90935C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7E603F-E074-416A-B894-29BD370BF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76FF7-8328-4075-A061-7DB41D33CA0F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68E7BA-625A-44CA-806C-BAA676391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AABC51-68D5-4028-884C-B70713BD6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E6B36-F591-496D-A565-57BA0F2E33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74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B96A0A5-4453-48FD-93A7-591E0F9D6FDB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PP03 / Technical Extension</a:t>
            </a:r>
            <a:endParaRPr lang="zh-TW" altLang="en-US" sz="11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D947C15-B869-4940-B886-A9B6B5B1A05C}"/>
              </a:ext>
            </a:extLst>
          </p:cNvPr>
          <p:cNvSpPr txBox="1"/>
          <p:nvPr/>
        </p:nvSpPr>
        <p:spPr>
          <a:xfrm>
            <a:off x="355600" y="736600"/>
            <a:ext cx="9398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4D + MCP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：讓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 4D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從手動操作走向語意驅動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6475B0A-D6B2-4FBE-88B9-66E86F861FF5}"/>
              </a:ext>
            </a:extLst>
          </p:cNvPr>
          <p:cNvSpPr txBox="1"/>
          <p:nvPr/>
        </p:nvSpPr>
        <p:spPr>
          <a:xfrm>
            <a:off x="406400" y="1981200"/>
            <a:ext cx="889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本篇作為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之後的技術延伸，說明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Blender Bonsai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Skill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如何把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分析、任務建立、排程與動畫控制封裝成可重複工作流。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6A8441-D1D5-4321-8598-7B485D386FCE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9EEB5E1-6A21-4152-9F9E-9F5DA9300638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核心工具：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Blender Bonsai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核心協定：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Model Context Protocol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核心目標：降低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 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操作門檻並提升流程一致性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A2E4D4-4803-408A-8323-40C35A4080ED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Open BIM
MCP
Skill</a:t>
            </a:r>
            <a:endParaRPr lang="zh-TW" altLang="en-US" sz="20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AF5C51A-C6E3-448D-8E1A-9A4773B38212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F:\Resilio\AIGC\Projects\0613Paper\website\PP03_reveal.html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978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27A9C06-9D67-4394-A7D6-F4228F8C9DB0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Problem</a:t>
            </a:r>
            <a:endParaRPr lang="zh-TW" altLang="en-US" sz="11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1FE8A00-BD58-4DD3-B7CA-D8DC5AAF535A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研究背景：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 4D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的工具斷裂問題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1815E8B-A953-45A6-BDB5-5569C8598E69}"/>
              </a:ext>
            </a:extLst>
          </p:cNvPr>
          <p:cNvSpPr txBox="1"/>
          <p:nvPr/>
        </p:nvSpPr>
        <p:spPr>
          <a:xfrm>
            <a:off x="406400" y="1981200"/>
            <a:ext cx="889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主流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商業環境在建模上成熟，但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排程與施工動畫仍常依賴外部工具，造成資料、流程與展示斷裂。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778804-F14B-47DA-B078-1197A1596B02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E37972-CD1B-44F5-BD59-00F2E13CE82E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模型、排程、動畫與展示常分散在不同工具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BIM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與施工排程的整合成本高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Open BIM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需要可實驗、可自動化的替代路徑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A7C21E-0330-4FA5-A4B1-A077AD736A26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模型
排程
動畫
展示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825E41E-93FD-4DC7-B184-818740CD2D94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F:\Resilio\AIGC\Projects\0613Paper\website\PP03_reveal.html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681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38EC1A4-F69A-47BF-9A6C-7984203418E3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Research Gap</a:t>
            </a:r>
            <a:endParaRPr lang="zh-TW" altLang="en-US" sz="11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5ECE220-46F0-4673-817F-1C65AF4B8591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研究缺口：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4D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工作流仍缺少系統性論述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96FF61-2291-4CD7-A0DA-E0AC9A58E2C5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問題不只在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能不能做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，而是如何用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Skill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把操作封裝成可被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AI Agent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執行的任務。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141501-6698-4678-9935-645A633DA363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36A8ACF-ACCA-4A3F-88A1-CC75EE2BAD9A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Bonsai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在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面向的完整性與特有性需要整理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MCP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如何連接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並執行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 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操作仍待探索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Skill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可將重複任務轉成穩定模板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4AC1ED-9329-4D15-A510-2E0FF55DAC85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缺口
方法
貢獻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23CD604-5FE3-4BBC-9F84-D7C5C2F2D888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F:\Resilio\AIGC\Projects\0613Paper\website\PP03_reveal.html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3562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2410A00-105B-4B1A-BCCA-5B2F53B5B04B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Technology Stack</a:t>
            </a:r>
            <a:endParaRPr lang="zh-TW" altLang="en-US" sz="11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15D480-E08C-41C9-BD61-CF01D346A2B0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技術基礎：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Skill</a:t>
            </a:r>
            <a:endParaRPr lang="zh-TW" altLang="en-US" sz="2900" b="1">
              <a:solidFill>
                <a:srgbClr val="182329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98C1EA8-E7F7-4E21-9231-34A4B91DE72A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PP03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的技術結構可視為四層：資料層、工具層、協定層與任務層。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A7D664-B63D-470C-864C-56BA6784EF30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4528703-C6B2-46CD-9125-B02DC908EF7E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IFC / buildingSMART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Open BIM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資料基礎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Blender Bonsai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IFC/BIM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操作與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排程環境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MCP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Skill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：工具連接與流程封裝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B67CC6-D864-410C-ACF0-369A02E17C7D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Data
Tool
Protocol
Task</a:t>
            </a:r>
            <a:endParaRPr lang="zh-TW" altLang="en-US" sz="20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B1F62A-5463-48C9-B58C-211B8085A1A8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F:\Resilio\AIGC\Projects\0613Paper\website\PP03_reveal.html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587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B6448D7-CC61-4556-A96F-DDB257C8F23E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Workflow</a:t>
            </a:r>
            <a:endParaRPr lang="zh-TW" altLang="en-US" sz="11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869F799-4CBC-4FE5-8C94-1471E44E52DA}"/>
              </a:ext>
            </a:extLst>
          </p:cNvPr>
          <p:cNvSpPr txBox="1"/>
          <p:nvPr/>
        </p:nvSpPr>
        <p:spPr>
          <a:xfrm>
            <a:off x="355600" y="736600"/>
            <a:ext cx="9398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研究工作流：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 -&gt; Bonsai 4D -&gt; MCP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指令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-&gt; Skill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封裝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5211E6-524F-48AD-9BD6-97C40ECF422F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工作流的目標是把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建置拆成可描述、可執行、可驗證的任務序列。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06492F-7368-4839-A0E5-8A3F759610BD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9DD46E8-239F-499D-AA14-C8EDEA7C9F39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建立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Work Schedule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Task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與施工動畫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將模型構件與任務排程關聯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透過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Skill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封裝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控制流程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67F6B-4FD4-4C17-9336-AEF91F46F4B0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
Schedule
MCP
Skill</a:t>
            </a:r>
            <a:endParaRPr lang="zh-TW" altLang="en-US" sz="20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63C11FC-8DC4-4AD5-ABE5-34E58896BF9F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F:\Resilio\AIGC\Projects\0613Paper\website\PP03_reveal.html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899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EABCDB2-EF02-488D-B043-92DBA1E70AB4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Implementation</a:t>
            </a:r>
            <a:endParaRPr lang="zh-TW" altLang="en-US" sz="11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9ADC2CF-2DBA-4E56-B505-9362E29D00CB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系統實作：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4D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排程與動畫模擬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802EF8F-0032-4B0E-9EF3-7E8F01850BD4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不只是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IFC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檢視器，也能在同一環境中建立施工任務、任務條、模型關聯與動畫模擬。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F11793-E068-4170-BBE6-983AC8B09EFA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531DCFC-456C-4765-9926-31EC6DB3AD70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建立施工任務與時間資訊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將模型構件與任務關聯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使用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Animation Tools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Task Bars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呈現施工順序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84FA3E-B96B-4D73-A594-CF994A760043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排程
關聯
動畫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3C374C8-BE26-43CE-BCDC-EC16A535831A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F:\Resilio\AIGC\Projects\0613Paper\website\PP03_reveal.html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871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8E23A31-7978-4520-81D9-BE990D61C07D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Findings</a:t>
            </a:r>
            <a:endParaRPr lang="zh-TW" altLang="en-US" sz="11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8FCB4B6-9AE0-4FA7-832F-11478FF2184C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三項發現：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4D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具備完整性、特有性與自動化潛力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09B637A-2EC6-4602-86C4-CCA89EBC0C16}"/>
              </a:ext>
            </a:extLst>
          </p:cNvPr>
          <p:cNvSpPr txBox="1"/>
          <p:nvPr/>
        </p:nvSpPr>
        <p:spPr>
          <a:xfrm>
            <a:off x="406400" y="1981200"/>
            <a:ext cx="889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實作結果顯示，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4D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可作為 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Open BIM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研究與展示的可行路徑；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MCP/Skill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則讓它具備語意控制與自動化意義。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794662-0EC7-492F-823A-E8439BE6C7D5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6FFCD06-B3F3-4D38-A054-2B2BF36E5E8F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Bonsai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具備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 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應用的基本功能完整性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相較商業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BIM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工作流，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在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面向展現開源整合優勢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MCP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與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Skill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讓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具備語意控制與流程封裝潛力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23475D-ECD9-4E3D-AE4E-776826EE362A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完整性
特有性
自動化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DB8F2B3-6CFE-4ED9-BFBA-DD05E7DE3A68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F:\Resilio\AIGC\Projects\0613Paper\website\PP03_reveal.html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2604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4FB117E-F205-4E79-85AE-3CDEC3256DDD}"/>
              </a:ext>
            </a:extLst>
          </p:cNvPr>
          <p:cNvSpPr txBox="1"/>
          <p:nvPr/>
        </p:nvSpPr>
        <p:spPr>
          <a:xfrm>
            <a:off x="355600" y="254000"/>
            <a:ext cx="965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1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Bridge</a:t>
            </a:r>
            <a:endParaRPr lang="zh-TW" altLang="en-US" sz="11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C80CB9-F272-4CA1-A08D-47C67D7D750F}"/>
              </a:ext>
            </a:extLst>
          </p:cNvPr>
          <p:cNvSpPr txBox="1"/>
          <p:nvPr/>
        </p:nvSpPr>
        <p:spPr>
          <a:xfrm>
            <a:off x="355600" y="736600"/>
            <a:ext cx="939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銜接網站：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PP03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是 </a:t>
            </a:r>
            <a:r>
              <a:rPr lang="en-US" altLang="zh-TW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 Web3D </a:t>
            </a:r>
            <a:r>
              <a:rPr lang="zh-TW" altLang="en-US" sz="2900" b="1">
                <a:solidFill>
                  <a:srgbClr val="182329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之後的自動化延伸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9361677-C404-4919-8865-5A6558FCDC45}"/>
              </a:ext>
            </a:extLst>
          </p:cNvPr>
          <p:cNvSpPr txBox="1"/>
          <p:nvPr/>
        </p:nvSpPr>
        <p:spPr>
          <a:xfrm>
            <a:off x="406400" y="1981200"/>
            <a:ext cx="889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PP02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展示模型如何進入瀏覽器，</a:t>
            </a:r>
            <a:r>
              <a:rPr lang="en-US" altLang="zh-TW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PP03 </a:t>
            </a:r>
            <a:r>
              <a:rPr lang="zh-TW" altLang="en-US" sz="15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則說明模型、任務與動畫資料如何被更穩定地建立與控制。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4E5258-9B10-443B-9BE3-DE6366774B22}"/>
              </a:ext>
            </a:extLst>
          </p:cNvPr>
          <p:cNvSpPr/>
          <p:nvPr/>
        </p:nvSpPr>
        <p:spPr>
          <a:xfrm>
            <a:off x="457200" y="3098800"/>
            <a:ext cx="8890000" cy="3149600"/>
          </a:xfrm>
          <a:prstGeom prst="rect">
            <a:avLst/>
          </a:prstGeom>
          <a:solidFill>
            <a:srgbClr val="FFFFFF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B6DD82C-5E95-422F-B906-D6421573569A}"/>
              </a:ext>
            </a:extLst>
          </p:cNvPr>
          <p:cNvSpPr txBox="1"/>
          <p:nvPr/>
        </p:nvSpPr>
        <p:spPr>
          <a:xfrm>
            <a:off x="762000" y="3378200"/>
            <a:ext cx="8255000" cy="830997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PP02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Web3D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展示與類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互動敘事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PP03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Bonsai 4D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排程、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MCP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指令與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Skill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封裝</a:t>
            </a:r>
          </a:p>
          <a:p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-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未來：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Web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視覺化、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Digital Twin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、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5D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成本與 </a:t>
            </a:r>
            <a:r>
              <a:rPr lang="en-US" altLang="zh-TW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6D </a:t>
            </a:r>
            <a:r>
              <a:rPr lang="zh-TW" altLang="en-US" sz="16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維運延伸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535FA5-D092-453A-99D6-F9C0C10BB0BF}"/>
              </a:ext>
            </a:extLst>
          </p:cNvPr>
          <p:cNvSpPr/>
          <p:nvPr/>
        </p:nvSpPr>
        <p:spPr>
          <a:xfrm>
            <a:off x="10185400" y="1066800"/>
            <a:ext cx="1676400" cy="5181600"/>
          </a:xfrm>
          <a:prstGeom prst="rect">
            <a:avLst/>
          </a:prstGeom>
          <a:solidFill>
            <a:srgbClr val="EDF3F3"/>
          </a:solidFill>
          <a:ln>
            <a:solidFill>
              <a:srgbClr val="D7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>
                <a:solidFill>
                  <a:srgbClr val="496F55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Next
Automation</a:t>
            </a:r>
            <a:endParaRPr lang="zh-TW" altLang="en-US" sz="2000" b="1">
              <a:solidFill>
                <a:srgbClr val="496F55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C1167CD-A992-4ED8-9F49-6AAEA4A34BCC}"/>
              </a:ext>
            </a:extLst>
          </p:cNvPr>
          <p:cNvSpPr txBox="1"/>
          <p:nvPr/>
        </p:nvSpPr>
        <p:spPr>
          <a:xfrm>
            <a:off x="406400" y="6477000"/>
            <a:ext cx="965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800">
                <a:solidFill>
                  <a:srgbClr val="5C6B73"/>
                </a:solidFill>
                <a:latin typeface="Segoe UI" panose="020B0502040204020203" pitchFamily="34" charset="0"/>
                <a:ea typeface="Microsoft JhengHei" panose="020B0604030504040204" pitchFamily="34" charset="-120"/>
              </a:rPr>
              <a:t>F:\Resilio\AIGC\Projects\0613Paper\website\PP03_reveal.html</a:t>
            </a:r>
            <a:endParaRPr lang="zh-TW" altLang="en-US" sz="800">
              <a:solidFill>
                <a:srgbClr val="5C6B73"/>
              </a:solidFill>
              <a:latin typeface="Segoe UI" panose="020B0502040204020203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93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自訂</PresentationFormat>
  <Paragraphs>64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vizken</dc:creator>
  <cp:lastModifiedBy>vizken</cp:lastModifiedBy>
  <cp:revision>1</cp:revision>
  <dcterms:created xsi:type="dcterms:W3CDTF">2026-06-11T17:16:49Z</dcterms:created>
  <dcterms:modified xsi:type="dcterms:W3CDTF">2026-06-11T17:16:49Z</dcterms:modified>
</cp:coreProperties>
</file>