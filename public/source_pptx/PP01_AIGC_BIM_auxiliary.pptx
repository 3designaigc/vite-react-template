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TW"/>
    </a:defPPr>
    <a:lvl1pPr marL="0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1pPr>
    <a:lvl2pPr marL="307238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2pPr>
    <a:lvl3pPr marL="614477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3pPr>
    <a:lvl4pPr marL="921715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4pPr>
    <a:lvl5pPr marL="1228954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5pPr>
    <a:lvl6pPr marL="1536192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6pPr>
    <a:lvl7pPr marL="1843430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7pPr>
    <a:lvl8pPr marL="2150669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8pPr>
    <a:lvl9pPr marL="2457907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4BE030-686D-471F-BB69-1E3F2F463A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451792A-041C-43C4-96C1-39D8867CD5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E278C6A-224D-4681-9F41-1544680AE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300F2-7355-4378-BF71-446B44B79B23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DBB57D5-847E-41C2-8168-58C9112AF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9A2E2DE-1100-4946-8AE3-86F25516C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A18CE-3336-409F-BEDA-51C81EE202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4610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6AFF35-7F17-430D-81DB-77968D698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9819277-4462-4B1A-BFC1-2FFDBE538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BFF70AE-72B8-413F-8EC7-6F44B0A66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300F2-7355-4378-BF71-446B44B79B23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9673A24-2BF0-4A2A-A3A3-FBD118305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08BA4C0-C304-4723-AE82-E027CEF4D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A18CE-3336-409F-BEDA-51C81EE202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298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700D07-4715-4FA7-AF03-A1CF96879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8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B776A97-AE60-4DD0-B129-F24E553F6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8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E7ED1E-103C-4F64-AD1A-44A437F43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300F2-7355-4378-BF71-446B44B79B23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4010DD8-1654-4AF5-BF56-2D62BBDB4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5ECDF50-8015-4EA0-B1B8-51B95D402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A18CE-3336-409F-BEDA-51C81EE202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8993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2AB166-27BC-44C2-B7CA-A60C46BCC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9D62274-A2CE-4552-9DE9-CE4D22632B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FD675BA-D526-42D0-B511-EA96D1B979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93452D4-E978-40F1-BF0A-F5A87DE77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300F2-7355-4378-BF71-446B44B79B23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6680CE1-8731-49ED-B559-D17E23FC0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92C40ED-6230-4431-9135-6419C575A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A18CE-3336-409F-BEDA-51C81EE202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878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88EF99-F02F-4220-A81F-C3730BB03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D20D007-CB8D-4787-B9AC-C198C13B9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2"/>
            <a:ext cx="5157787" cy="823913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201EE4B-2DFC-48E8-9317-F002A7F6C2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AD2A86A-9F2B-4120-B6E2-1C875C955B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2"/>
            <a:ext cx="5183188" cy="823913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820837A-723F-4B1B-AA75-C0823800E7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07AD740-DE31-458C-A930-EE9F88907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300F2-7355-4378-BF71-446B44B79B23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851CF4A-609C-4BF2-931E-E10AA8896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04C4CF2-3A2A-48E6-AE09-61936359F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A18CE-3336-409F-BEDA-51C81EE202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3806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FF2D46-A84A-4527-837F-5B7074BB0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8EE1EA4-04B8-453F-B110-CD51FBF67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300F2-7355-4378-BF71-446B44B79B23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A19D146-E5CE-4E44-AA06-87EB73B7F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379CCE5-EA6C-42A6-BFFD-F186866B2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A18CE-3336-409F-BEDA-51C81EE202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5222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EC107E1-0C8A-48BC-988C-EF11B029F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300F2-7355-4378-BF71-446B44B79B23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386A8A2-5942-418B-9F07-563481CA3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A10969-F6AE-4C7B-83B2-ADCD6DC6B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A18CE-3336-409F-BEDA-51C81EE202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1155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81983D-3CB5-429B-B48E-155608951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276CEC-8A8D-452B-81D7-1B3DE5C80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F1AB614-E344-4F21-9AE5-C4A40CDFD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EAFDB03-A9FC-4EA7-B8D1-92696179A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300F2-7355-4378-BF71-446B44B79B23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939C101-495A-4A68-B529-574C2F484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0465B3E-53AA-4FA0-9A2B-61CCB4463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A18CE-3336-409F-BEDA-51C81EE202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3060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848D96-EB4C-42AD-A91B-20F71CA9A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E5775A2-264A-4016-AA98-21BA0A4294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2FA2265-807A-4AE1-BC04-AF12333686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D0976FB-B3C9-4219-BE0B-BCF915DDF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300F2-7355-4378-BF71-446B44B79B23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FB82432-60D7-49B3-B064-CDE29691A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6F23946-BC78-4DB6-8BE5-C8EC8EFCD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A18CE-3336-409F-BEDA-51C81EE202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0004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1AB50E-6EB6-448D-98DA-B611F4EBA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8131CBF-053D-490D-AF74-4E4B957CB6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9E19D3F-1DAE-4B13-ABFC-251EB5252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300F2-7355-4378-BF71-446B44B79B23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507AD03-6F4B-45C8-88B7-7FCF7C8D1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C3C12FC-8DDA-4F60-8F08-975A01B38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A18CE-3336-409F-BEDA-51C81EE202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6909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F1FE202-D932-439C-BF27-232FD59DBA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C850D5A-3223-4E6D-96A8-432FF73AD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06A1BF8-B8B0-4309-90AA-751561D35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300F2-7355-4378-BF71-446B44B79B23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8FE257-0E40-436C-9454-5D48564BC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81EF3D2-F1B3-4228-A2C7-00F4BA59F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A18CE-3336-409F-BEDA-51C81EE202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6046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CCEB31C-26B0-4556-A14B-9C6DE2F7F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7F6BD69-8818-4879-98CA-72167B5AA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09F5560-B7EC-45E9-B719-32144FBA95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B300F2-7355-4378-BF71-446B44B79B23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39D4C9-CEB8-45CE-89F9-06A7190F00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BABFD2F-118D-4ACD-BE1D-DE5464FC5D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1A18CE-3336-409F-BEDA-51C81EE202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3756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30DEC5A2-50EB-4BAE-A946-3B58D72965FF}"/>
              </a:ext>
            </a:extLst>
          </p:cNvPr>
          <p:cNvSpPr txBox="1"/>
          <p:nvPr/>
        </p:nvSpPr>
        <p:spPr>
          <a:xfrm>
            <a:off x="355600" y="254000"/>
            <a:ext cx="965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100" b="1">
                <a:solidFill>
                  <a:srgbClr val="0B7180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PP01 / Research Foundation</a:t>
            </a:r>
            <a:endParaRPr lang="zh-TW" altLang="en-US" sz="1100" b="1">
              <a:solidFill>
                <a:srgbClr val="0B7180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8A8300B-AC29-4C04-8BCE-22B3705CC374}"/>
              </a:ext>
            </a:extLst>
          </p:cNvPr>
          <p:cNvSpPr txBox="1"/>
          <p:nvPr/>
        </p:nvSpPr>
        <p:spPr>
          <a:xfrm>
            <a:off x="355600" y="736600"/>
            <a:ext cx="939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AIGC </a:t>
            </a:r>
            <a:r>
              <a:rPr lang="zh-TW" altLang="en-US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不只是圖像生成，而是建築流程的開放式協作引擎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BBF7D98-5069-4599-BD60-ECF367A93E1B}"/>
              </a:ext>
            </a:extLst>
          </p:cNvPr>
          <p:cNvSpPr txBox="1"/>
          <p:nvPr/>
        </p:nvSpPr>
        <p:spPr>
          <a:xfrm>
            <a:off x="406400" y="1981200"/>
            <a:ext cx="889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本篇作為三篇簡報的背景與方法論基礎，說明生成式 </a:t>
            </a:r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AI 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如何串接 </a:t>
            </a:r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BIM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、</a:t>
            </a:r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IFC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、</a:t>
            </a:r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Blender/Rhino/Revit 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與 </a:t>
            </a:r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GRC 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工法。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D1CD4F2-5084-4110-89E2-2803588C5D9D}"/>
              </a:ext>
            </a:extLst>
          </p:cNvPr>
          <p:cNvSpPr/>
          <p:nvPr/>
        </p:nvSpPr>
        <p:spPr>
          <a:xfrm>
            <a:off x="457200" y="3098800"/>
            <a:ext cx="8890000" cy="3149600"/>
          </a:xfrm>
          <a:prstGeom prst="rect">
            <a:avLst/>
          </a:prstGeom>
          <a:solidFill>
            <a:srgbClr val="FFFFFF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55922A2-B97A-4940-937D-2AF24E923E37}"/>
              </a:ext>
            </a:extLst>
          </p:cNvPr>
          <p:cNvSpPr txBox="1"/>
          <p:nvPr/>
        </p:nvSpPr>
        <p:spPr>
          <a:xfrm>
            <a:off x="762000" y="3378200"/>
            <a:ext cx="8255000" cy="830997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研究案例：台中雅園會館入口</a:t>
            </a:r>
          </a:p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核心路線：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AIGC -&gt; BIM/IFC -&gt; GRC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施工</a:t>
            </a:r>
          </a:p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銜接 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PP02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：將模型與流程轉成 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Web3D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展示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CD117C-6B94-4E65-832A-2870ED91505C}"/>
              </a:ext>
            </a:extLst>
          </p:cNvPr>
          <p:cNvSpPr/>
          <p:nvPr/>
        </p:nvSpPr>
        <p:spPr>
          <a:xfrm>
            <a:off x="10185400" y="1066800"/>
            <a:ext cx="1676400" cy="5181600"/>
          </a:xfrm>
          <a:prstGeom prst="rect">
            <a:avLst/>
          </a:prstGeom>
          <a:solidFill>
            <a:srgbClr val="EDF3F3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>
                <a:solidFill>
                  <a:srgbClr val="0B7180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AIGC
BIM
IFC
GRC</a:t>
            </a:r>
            <a:endParaRPr lang="zh-TW" altLang="en-US" sz="2000" b="1">
              <a:solidFill>
                <a:srgbClr val="0B7180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C85A6AD-62AE-429D-83D8-A10F86ECBC25}"/>
              </a:ext>
            </a:extLst>
          </p:cNvPr>
          <p:cNvSpPr txBox="1"/>
          <p:nvPr/>
        </p:nvSpPr>
        <p:spPr>
          <a:xfrm>
            <a:off x="406400" y="6477000"/>
            <a:ext cx="965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8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F:\Resilio\AIGC\Projects\0613Paper\website\PP01_reveal.html</a:t>
            </a:r>
            <a:endParaRPr lang="zh-TW" altLang="en-US" sz="800">
              <a:solidFill>
                <a:srgbClr val="5C6B73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51755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3AE7AF67-CB75-4314-AB9A-45159D6884A2}"/>
              </a:ext>
            </a:extLst>
          </p:cNvPr>
          <p:cNvSpPr txBox="1"/>
          <p:nvPr/>
        </p:nvSpPr>
        <p:spPr>
          <a:xfrm>
            <a:off x="355600" y="254000"/>
            <a:ext cx="965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100" b="1">
                <a:solidFill>
                  <a:srgbClr val="0B7180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Research Context</a:t>
            </a:r>
            <a:endParaRPr lang="zh-TW" altLang="en-US" sz="1100" b="1">
              <a:solidFill>
                <a:srgbClr val="0B7180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30869B0-7ABB-4A5D-A978-89A58DD99B2E}"/>
              </a:ext>
            </a:extLst>
          </p:cNvPr>
          <p:cNvSpPr txBox="1"/>
          <p:nvPr/>
        </p:nvSpPr>
        <p:spPr>
          <a:xfrm>
            <a:off x="355600" y="736600"/>
            <a:ext cx="939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研究背景：</a:t>
            </a:r>
            <a:r>
              <a:rPr lang="en-US" altLang="zh-TW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AIGC </a:t>
            </a:r>
            <a:r>
              <a:rPr lang="zh-TW" altLang="en-US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進入建築設計流程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B9CB06F-71C0-4C80-B580-FFB2704B35FC}"/>
              </a:ext>
            </a:extLst>
          </p:cNvPr>
          <p:cNvSpPr txBox="1"/>
          <p:nvPr/>
        </p:nvSpPr>
        <p:spPr>
          <a:xfrm>
            <a:off x="406400" y="1981200"/>
            <a:ext cx="889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傳統建築流程常把概念生成、模型整合與施工落地切成不同工具與不同階段；</a:t>
            </a:r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AIGC 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提供重新串接這些環節的機會。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93DF245-55F3-4D3D-826A-EEFE76C6A230}"/>
              </a:ext>
            </a:extLst>
          </p:cNvPr>
          <p:cNvSpPr/>
          <p:nvPr/>
        </p:nvSpPr>
        <p:spPr>
          <a:xfrm>
            <a:off x="457200" y="3098800"/>
            <a:ext cx="8890000" cy="3149600"/>
          </a:xfrm>
          <a:prstGeom prst="rect">
            <a:avLst/>
          </a:prstGeom>
          <a:solidFill>
            <a:srgbClr val="FFFFFF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098ED98-F180-452C-B0CF-4DC5968FFA6B}"/>
              </a:ext>
            </a:extLst>
          </p:cNvPr>
          <p:cNvSpPr txBox="1"/>
          <p:nvPr/>
        </p:nvSpPr>
        <p:spPr>
          <a:xfrm>
            <a:off x="762000" y="3378200"/>
            <a:ext cx="8255000" cy="830997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生成式 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AI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從圖像工具轉為設計協作工具</a:t>
            </a:r>
          </a:p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入口造型是視覺、結構、材料與施工整合的高複雜場域</a:t>
            </a:r>
          </a:p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研究需要從概念效果走向可驗證、可施工、可溝通的流程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069A64-7959-455B-854C-A9985F478830}"/>
              </a:ext>
            </a:extLst>
          </p:cNvPr>
          <p:cNvSpPr/>
          <p:nvPr/>
        </p:nvSpPr>
        <p:spPr>
          <a:xfrm>
            <a:off x="10185400" y="1066800"/>
            <a:ext cx="1676400" cy="5181600"/>
          </a:xfrm>
          <a:prstGeom prst="rect">
            <a:avLst/>
          </a:prstGeom>
          <a:solidFill>
            <a:srgbClr val="EDF3F3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>
                <a:solidFill>
                  <a:srgbClr val="0B7180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傳統流程
</a:t>
            </a:r>
            <a:r>
              <a:rPr lang="en-US" altLang="zh-TW" sz="2000" b="1">
                <a:solidFill>
                  <a:srgbClr val="0B7180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vs
AIGC </a:t>
            </a:r>
            <a:r>
              <a:rPr lang="zh-TW" altLang="en-US" sz="2000" b="1">
                <a:solidFill>
                  <a:srgbClr val="0B7180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流程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EA444AB-A0E0-4F6C-87E5-1AACFFC2D896}"/>
              </a:ext>
            </a:extLst>
          </p:cNvPr>
          <p:cNvSpPr txBox="1"/>
          <p:nvPr/>
        </p:nvSpPr>
        <p:spPr>
          <a:xfrm>
            <a:off x="406400" y="6477000"/>
            <a:ext cx="965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8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F:\Resilio\AIGC\Projects\0613Paper\website\PP01_reveal.html</a:t>
            </a:r>
            <a:endParaRPr lang="zh-TW" altLang="en-US" sz="800">
              <a:solidFill>
                <a:srgbClr val="5C6B73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6159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3EDA2DB1-847E-4C75-9CB4-ADDD46587FEA}"/>
              </a:ext>
            </a:extLst>
          </p:cNvPr>
          <p:cNvSpPr txBox="1"/>
          <p:nvPr/>
        </p:nvSpPr>
        <p:spPr>
          <a:xfrm>
            <a:off x="355600" y="254000"/>
            <a:ext cx="965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100" b="1">
                <a:solidFill>
                  <a:srgbClr val="0B7180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Research Questions</a:t>
            </a:r>
            <a:endParaRPr lang="zh-TW" altLang="en-US" sz="1100" b="1">
              <a:solidFill>
                <a:srgbClr val="0B7180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C1A6F35-ED61-43F3-913A-2CB3157AF6E0}"/>
              </a:ext>
            </a:extLst>
          </p:cNvPr>
          <p:cNvSpPr txBox="1"/>
          <p:nvPr/>
        </p:nvSpPr>
        <p:spPr>
          <a:xfrm>
            <a:off x="355600" y="736600"/>
            <a:ext cx="939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研究問題：如何從生成式概念走向可施工構件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6A07D95-500B-4AF4-8D34-94DC994EB6FC}"/>
              </a:ext>
            </a:extLst>
          </p:cNvPr>
          <p:cNvSpPr txBox="1"/>
          <p:nvPr/>
        </p:nvSpPr>
        <p:spPr>
          <a:xfrm>
            <a:off x="406400" y="1981200"/>
            <a:ext cx="889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關鍵不只是產生漂亮圖像，而是讓概念能進入 </a:t>
            </a:r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BIM/IFC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、材料工法與施工階段。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B52A5E1-2AAA-46EB-88F8-1DD416DFD694}"/>
              </a:ext>
            </a:extLst>
          </p:cNvPr>
          <p:cNvSpPr/>
          <p:nvPr/>
        </p:nvSpPr>
        <p:spPr>
          <a:xfrm>
            <a:off x="457200" y="3098800"/>
            <a:ext cx="8890000" cy="3149600"/>
          </a:xfrm>
          <a:prstGeom prst="rect">
            <a:avLst/>
          </a:prstGeom>
          <a:solidFill>
            <a:srgbClr val="FFFFFF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CCC1761-A945-44F6-8FBC-67CE8F04450F}"/>
              </a:ext>
            </a:extLst>
          </p:cNvPr>
          <p:cNvSpPr txBox="1"/>
          <p:nvPr/>
        </p:nvSpPr>
        <p:spPr>
          <a:xfrm>
            <a:off x="762000" y="3378200"/>
            <a:ext cx="8255000" cy="830997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建築設計如何從 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AIGC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概念轉成可建模資料</a:t>
            </a:r>
          </a:p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BIM/IFC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如何支援跨軟體整合與資料交換</a:t>
            </a:r>
          </a:p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GRC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工法如何承接自由曲面與入口構件落地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5CC7550-0986-47D3-B090-14FB56BA5C72}"/>
              </a:ext>
            </a:extLst>
          </p:cNvPr>
          <p:cNvSpPr/>
          <p:nvPr/>
        </p:nvSpPr>
        <p:spPr>
          <a:xfrm>
            <a:off x="10185400" y="1066800"/>
            <a:ext cx="1676400" cy="5181600"/>
          </a:xfrm>
          <a:prstGeom prst="rect">
            <a:avLst/>
          </a:prstGeom>
          <a:solidFill>
            <a:srgbClr val="EDF3F3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>
                <a:solidFill>
                  <a:srgbClr val="0B7180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設計生成
模型整合
施工落地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BBA4A29-03ED-4289-858E-7E29429E883A}"/>
              </a:ext>
            </a:extLst>
          </p:cNvPr>
          <p:cNvSpPr txBox="1"/>
          <p:nvPr/>
        </p:nvSpPr>
        <p:spPr>
          <a:xfrm>
            <a:off x="406400" y="6477000"/>
            <a:ext cx="965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8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F:\Resilio\AIGC\Projects\0613Paper\website\PP01_reveal.html</a:t>
            </a:r>
            <a:endParaRPr lang="zh-TW" altLang="en-US" sz="800">
              <a:solidFill>
                <a:srgbClr val="5C6B73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58566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8574B053-51CC-4462-A8EB-9239012FCC93}"/>
              </a:ext>
            </a:extLst>
          </p:cNvPr>
          <p:cNvSpPr txBox="1"/>
          <p:nvPr/>
        </p:nvSpPr>
        <p:spPr>
          <a:xfrm>
            <a:off x="355600" y="254000"/>
            <a:ext cx="965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100" b="1">
                <a:solidFill>
                  <a:srgbClr val="0B7180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Technology Map</a:t>
            </a:r>
            <a:endParaRPr lang="zh-TW" altLang="en-US" sz="1100" b="1">
              <a:solidFill>
                <a:srgbClr val="0B7180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F25FFD2-BF02-4DB3-844E-4D3D46B7260D}"/>
              </a:ext>
            </a:extLst>
          </p:cNvPr>
          <p:cNvSpPr txBox="1"/>
          <p:nvPr/>
        </p:nvSpPr>
        <p:spPr>
          <a:xfrm>
            <a:off x="355600" y="736600"/>
            <a:ext cx="939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文獻與技術脈絡：</a:t>
            </a:r>
            <a:r>
              <a:rPr lang="en-US" altLang="zh-TW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AIGC</a:t>
            </a:r>
            <a:r>
              <a:rPr lang="zh-TW" altLang="en-US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、</a:t>
            </a:r>
            <a:r>
              <a:rPr lang="en-US" altLang="zh-TW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BIM</a:t>
            </a:r>
            <a:r>
              <a:rPr lang="zh-TW" altLang="en-US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、</a:t>
            </a:r>
            <a:r>
              <a:rPr lang="en-US" altLang="zh-TW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IFC </a:t>
            </a:r>
            <a:r>
              <a:rPr lang="zh-TW" altLang="en-US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與材料工法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AE31D28-72E9-4CD3-96B1-56BB600209B3}"/>
              </a:ext>
            </a:extLst>
          </p:cNvPr>
          <p:cNvSpPr txBox="1"/>
          <p:nvPr/>
        </p:nvSpPr>
        <p:spPr>
          <a:xfrm>
            <a:off x="406400" y="1981200"/>
            <a:ext cx="889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PP01 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建立的是一張技術地圖，讓後續 </a:t>
            </a:r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PP02 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的 </a:t>
            </a:r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Web3D 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與 </a:t>
            </a:r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PP03 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的 </a:t>
            </a:r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MCP/Bonsai 4D 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有共同語言。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FD38A70-E0C7-45F6-93DC-05560D7DC390}"/>
              </a:ext>
            </a:extLst>
          </p:cNvPr>
          <p:cNvSpPr/>
          <p:nvPr/>
        </p:nvSpPr>
        <p:spPr>
          <a:xfrm>
            <a:off x="457200" y="3098800"/>
            <a:ext cx="8890000" cy="3149600"/>
          </a:xfrm>
          <a:prstGeom prst="rect">
            <a:avLst/>
          </a:prstGeom>
          <a:solidFill>
            <a:srgbClr val="FFFFFF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E79681A-A0AC-41A7-B93F-FFFDF9138B00}"/>
              </a:ext>
            </a:extLst>
          </p:cNvPr>
          <p:cNvSpPr txBox="1"/>
          <p:nvPr/>
        </p:nvSpPr>
        <p:spPr>
          <a:xfrm>
            <a:off x="762000" y="3378200"/>
            <a:ext cx="8255000" cy="830997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AIGC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：概念生成、快速迭代與多代理協同</a:t>
            </a:r>
          </a:p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BIM/IFC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：跨軟體模型資料與建築資訊語意</a:t>
            </a:r>
          </a:p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GRC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：材料科技、自由曲面構件與施工落地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4048E58-8693-4EE1-99FC-02D792699CF4}"/>
              </a:ext>
            </a:extLst>
          </p:cNvPr>
          <p:cNvSpPr/>
          <p:nvPr/>
        </p:nvSpPr>
        <p:spPr>
          <a:xfrm>
            <a:off x="10185400" y="1066800"/>
            <a:ext cx="1676400" cy="5181600"/>
          </a:xfrm>
          <a:prstGeom prst="rect">
            <a:avLst/>
          </a:prstGeom>
          <a:solidFill>
            <a:srgbClr val="EDF3F3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>
                <a:solidFill>
                  <a:srgbClr val="0B7180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AIGC
+
OpenBIM</a:t>
            </a:r>
            <a:endParaRPr lang="zh-TW" altLang="en-US" sz="2000" b="1">
              <a:solidFill>
                <a:srgbClr val="0B7180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3D60545-BE80-4619-A911-90AF3E3BA9A6}"/>
              </a:ext>
            </a:extLst>
          </p:cNvPr>
          <p:cNvSpPr txBox="1"/>
          <p:nvPr/>
        </p:nvSpPr>
        <p:spPr>
          <a:xfrm>
            <a:off x="406400" y="6477000"/>
            <a:ext cx="965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8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F:\Resilio\AIGC\Projects\0613Paper\website\PP01_reveal.html</a:t>
            </a:r>
            <a:endParaRPr lang="zh-TW" altLang="en-US" sz="800">
              <a:solidFill>
                <a:srgbClr val="5C6B73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35289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3AE12532-CAF5-488B-8806-53D68FD0E8F6}"/>
              </a:ext>
            </a:extLst>
          </p:cNvPr>
          <p:cNvSpPr txBox="1"/>
          <p:nvPr/>
        </p:nvSpPr>
        <p:spPr>
          <a:xfrm>
            <a:off x="355600" y="254000"/>
            <a:ext cx="965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100" b="1">
                <a:solidFill>
                  <a:srgbClr val="0B7180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Method</a:t>
            </a:r>
            <a:endParaRPr lang="zh-TW" altLang="en-US" sz="1100" b="1">
              <a:solidFill>
                <a:srgbClr val="0B7180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CE4FF00-2162-4A12-A31D-12CD1F037F3C}"/>
              </a:ext>
            </a:extLst>
          </p:cNvPr>
          <p:cNvSpPr txBox="1"/>
          <p:nvPr/>
        </p:nvSpPr>
        <p:spPr>
          <a:xfrm>
            <a:off x="355600" y="736600"/>
            <a:ext cx="939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研究方法：開放式 </a:t>
            </a:r>
            <a:r>
              <a:rPr lang="en-US" altLang="zh-TW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AIGC-BIM-IFC </a:t>
            </a:r>
            <a:r>
              <a:rPr lang="zh-TW" altLang="en-US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流程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9D144FC-05AE-4D69-BCCE-56662C6E8D92}"/>
              </a:ext>
            </a:extLst>
          </p:cNvPr>
          <p:cNvSpPr txBox="1"/>
          <p:nvPr/>
        </p:nvSpPr>
        <p:spPr>
          <a:xfrm>
            <a:off x="406400" y="1981200"/>
            <a:ext cx="889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研究方法以開放流程取代封閉工具鏈，讓 </a:t>
            </a:r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AI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、模型、材料與展示可以在同一條管線上迭代。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BABAFE6-ADEF-4886-ADE8-61C4BD72908D}"/>
              </a:ext>
            </a:extLst>
          </p:cNvPr>
          <p:cNvSpPr/>
          <p:nvPr/>
        </p:nvSpPr>
        <p:spPr>
          <a:xfrm>
            <a:off x="457200" y="3098800"/>
            <a:ext cx="8890000" cy="3149600"/>
          </a:xfrm>
          <a:prstGeom prst="rect">
            <a:avLst/>
          </a:prstGeom>
          <a:solidFill>
            <a:srgbClr val="FFFFFF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6316465-9C6E-4B3B-B19E-A0DF70E987B7}"/>
              </a:ext>
            </a:extLst>
          </p:cNvPr>
          <p:cNvSpPr txBox="1"/>
          <p:nvPr/>
        </p:nvSpPr>
        <p:spPr>
          <a:xfrm>
            <a:off x="762000" y="3378200"/>
            <a:ext cx="8255000" cy="830997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概念生成層：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AIGC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與提示詞迭代</a:t>
            </a:r>
          </a:p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模型整合層：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Blender / Rhino / Revit / IFC</a:t>
            </a:r>
          </a:p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落地驗證層：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GRC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製作、施工階段與展示溝通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35489AA-D0A5-4CE7-8A0E-75A4B6AA9933}"/>
              </a:ext>
            </a:extLst>
          </p:cNvPr>
          <p:cNvSpPr/>
          <p:nvPr/>
        </p:nvSpPr>
        <p:spPr>
          <a:xfrm>
            <a:off x="10185400" y="1066800"/>
            <a:ext cx="1676400" cy="5181600"/>
          </a:xfrm>
          <a:prstGeom prst="rect">
            <a:avLst/>
          </a:prstGeom>
          <a:solidFill>
            <a:srgbClr val="EDF3F3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>
                <a:solidFill>
                  <a:srgbClr val="0B7180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OABIF
</a:t>
            </a:r>
            <a:r>
              <a:rPr lang="zh-TW" altLang="en-US" sz="2000" b="1">
                <a:solidFill>
                  <a:srgbClr val="0B7180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開放流程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BF5B63C-A794-4A81-9755-68D28D785D73}"/>
              </a:ext>
            </a:extLst>
          </p:cNvPr>
          <p:cNvSpPr txBox="1"/>
          <p:nvPr/>
        </p:nvSpPr>
        <p:spPr>
          <a:xfrm>
            <a:off x="406400" y="6477000"/>
            <a:ext cx="965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8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F:\Resilio\AIGC\Projects\0613Paper\website\PP01_reveal.html</a:t>
            </a:r>
            <a:endParaRPr lang="zh-TW" altLang="en-US" sz="800">
              <a:solidFill>
                <a:srgbClr val="5C6B73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68005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1334FC0-CD46-4FFF-9F8F-A9570C5CD0A4}"/>
              </a:ext>
            </a:extLst>
          </p:cNvPr>
          <p:cNvSpPr txBox="1"/>
          <p:nvPr/>
        </p:nvSpPr>
        <p:spPr>
          <a:xfrm>
            <a:off x="355600" y="254000"/>
            <a:ext cx="965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100" b="1">
                <a:solidFill>
                  <a:srgbClr val="0B7180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Case</a:t>
            </a:r>
            <a:endParaRPr lang="zh-TW" altLang="en-US" sz="1100" b="1">
              <a:solidFill>
                <a:srgbClr val="0B7180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AFE08E1-1F95-4C7A-8CFE-4751F5467FF4}"/>
              </a:ext>
            </a:extLst>
          </p:cNvPr>
          <p:cNvSpPr txBox="1"/>
          <p:nvPr/>
        </p:nvSpPr>
        <p:spPr>
          <a:xfrm>
            <a:off x="355600" y="736600"/>
            <a:ext cx="939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案例執行：台中雅園會館入口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B3294F0-FC72-4BDE-9228-8F5530E7806C}"/>
              </a:ext>
            </a:extLst>
          </p:cNvPr>
          <p:cNvSpPr txBox="1"/>
          <p:nvPr/>
        </p:nvSpPr>
        <p:spPr>
          <a:xfrm>
            <a:off x="406400" y="1981200"/>
            <a:ext cx="889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案例作為研究驗證場域，將入口造型從設計效果、</a:t>
            </a:r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3D 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模型、構件邏輯一路推進到材料與施工。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DB1F4E-CE5C-44E7-98AE-63891465639A}"/>
              </a:ext>
            </a:extLst>
          </p:cNvPr>
          <p:cNvSpPr/>
          <p:nvPr/>
        </p:nvSpPr>
        <p:spPr>
          <a:xfrm>
            <a:off x="457200" y="3098800"/>
            <a:ext cx="8890000" cy="3149600"/>
          </a:xfrm>
          <a:prstGeom prst="rect">
            <a:avLst/>
          </a:prstGeom>
          <a:solidFill>
            <a:srgbClr val="FFFFFF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2A1CB91-65FB-48E7-9D3A-E9E10B910C29}"/>
              </a:ext>
            </a:extLst>
          </p:cNvPr>
          <p:cNvSpPr txBox="1"/>
          <p:nvPr/>
        </p:nvSpPr>
        <p:spPr>
          <a:xfrm>
            <a:off x="762000" y="3378200"/>
            <a:ext cx="8255000" cy="830997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設計生成：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AIGC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影像與概念探索</a:t>
            </a:r>
          </a:p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模型整合：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Blender / Rhino / Revit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的幾何與資料串接</a:t>
            </a:r>
          </a:p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施工落地：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GRC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製作、分件與現場施工階段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4D796E0-FF6E-4B7E-AF1A-2D161F0788F6}"/>
              </a:ext>
            </a:extLst>
          </p:cNvPr>
          <p:cNvSpPr/>
          <p:nvPr/>
        </p:nvSpPr>
        <p:spPr>
          <a:xfrm>
            <a:off x="10185400" y="1066800"/>
            <a:ext cx="1676400" cy="5181600"/>
          </a:xfrm>
          <a:prstGeom prst="rect">
            <a:avLst/>
          </a:prstGeom>
          <a:solidFill>
            <a:srgbClr val="EDF3F3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>
                <a:solidFill>
                  <a:srgbClr val="0B7180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概念
模型
構件
施工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BB6B6FB-786B-476E-958C-441C3A7E725A}"/>
              </a:ext>
            </a:extLst>
          </p:cNvPr>
          <p:cNvSpPr txBox="1"/>
          <p:nvPr/>
        </p:nvSpPr>
        <p:spPr>
          <a:xfrm>
            <a:off x="406400" y="6477000"/>
            <a:ext cx="965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8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F:\Resilio\AIGC\Projects\0613Paper\website\PP01_reveal.html</a:t>
            </a:r>
            <a:endParaRPr lang="zh-TW" altLang="en-US" sz="800">
              <a:solidFill>
                <a:srgbClr val="5C6B73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50099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B59A919-2FBD-4F83-9767-B841D1576010}"/>
              </a:ext>
            </a:extLst>
          </p:cNvPr>
          <p:cNvSpPr txBox="1"/>
          <p:nvPr/>
        </p:nvSpPr>
        <p:spPr>
          <a:xfrm>
            <a:off x="355600" y="254000"/>
            <a:ext cx="965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100" b="1">
                <a:solidFill>
                  <a:srgbClr val="0B7180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Contribution</a:t>
            </a:r>
            <a:endParaRPr lang="zh-TW" altLang="en-US" sz="1100" b="1">
              <a:solidFill>
                <a:srgbClr val="0B7180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7980D8C-CA66-4B99-B712-E7C5A5D725B3}"/>
              </a:ext>
            </a:extLst>
          </p:cNvPr>
          <p:cNvSpPr txBox="1"/>
          <p:nvPr/>
        </p:nvSpPr>
        <p:spPr>
          <a:xfrm>
            <a:off x="355600" y="736600"/>
            <a:ext cx="939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研究貢獻：補足 </a:t>
            </a:r>
            <a:r>
              <a:rPr lang="en-US" altLang="zh-TW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AIGC </a:t>
            </a:r>
            <a:r>
              <a:rPr lang="zh-TW" altLang="en-US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在建築落地應用中的斷點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974EF2B-9634-4156-B140-1B35852D30B5}"/>
              </a:ext>
            </a:extLst>
          </p:cNvPr>
          <p:cNvSpPr txBox="1"/>
          <p:nvPr/>
        </p:nvSpPr>
        <p:spPr>
          <a:xfrm>
            <a:off x="406400" y="1981200"/>
            <a:ext cx="889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PP01 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的重點在於建立從 </a:t>
            </a:r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AI 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概念到施工實務的完整論述，並為 </a:t>
            </a:r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PP02/PP03 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的 </a:t>
            </a:r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Web3D 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與自動化工作流提供基礎。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9675D9D-4870-4769-B58E-80C402726CAC}"/>
              </a:ext>
            </a:extLst>
          </p:cNvPr>
          <p:cNvSpPr/>
          <p:nvPr/>
        </p:nvSpPr>
        <p:spPr>
          <a:xfrm>
            <a:off x="457200" y="3098800"/>
            <a:ext cx="8890000" cy="3149600"/>
          </a:xfrm>
          <a:prstGeom prst="rect">
            <a:avLst/>
          </a:prstGeom>
          <a:solidFill>
            <a:srgbClr val="FFFFFF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0FEBAE-2630-4D46-9938-416DBBE917B5}"/>
              </a:ext>
            </a:extLst>
          </p:cNvPr>
          <p:cNvSpPr txBox="1"/>
          <p:nvPr/>
        </p:nvSpPr>
        <p:spPr>
          <a:xfrm>
            <a:off x="762000" y="3378200"/>
            <a:ext cx="8255000" cy="830997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補足 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AIGC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在建築應用中的學理與實務空白</a:t>
            </a:r>
          </a:p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建立 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AIGC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、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BIM/IFC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與 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GRC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工法整合流程</a:t>
            </a:r>
          </a:p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為建築產業數位轉型與智慧施工提供案例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2EA7338-3EA7-4677-9185-476A93480690}"/>
              </a:ext>
            </a:extLst>
          </p:cNvPr>
          <p:cNvSpPr/>
          <p:nvPr/>
        </p:nvSpPr>
        <p:spPr>
          <a:xfrm>
            <a:off x="10185400" y="1066800"/>
            <a:ext cx="1676400" cy="5181600"/>
          </a:xfrm>
          <a:prstGeom prst="rect">
            <a:avLst/>
          </a:prstGeom>
          <a:solidFill>
            <a:srgbClr val="EDF3F3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>
                <a:solidFill>
                  <a:srgbClr val="0B7180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研究
方法
案例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4BE1C17-D5DB-49C8-AAA7-971C922679EE}"/>
              </a:ext>
            </a:extLst>
          </p:cNvPr>
          <p:cNvSpPr txBox="1"/>
          <p:nvPr/>
        </p:nvSpPr>
        <p:spPr>
          <a:xfrm>
            <a:off x="406400" y="6477000"/>
            <a:ext cx="965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8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F:\Resilio\AIGC\Projects\0613Paper\website\PP01_reveal.html</a:t>
            </a:r>
            <a:endParaRPr lang="zh-TW" altLang="en-US" sz="800">
              <a:solidFill>
                <a:srgbClr val="5C6B73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4029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FC3D187-6A34-4D0F-A2B7-1FB42AAF5686}"/>
              </a:ext>
            </a:extLst>
          </p:cNvPr>
          <p:cNvSpPr txBox="1"/>
          <p:nvPr/>
        </p:nvSpPr>
        <p:spPr>
          <a:xfrm>
            <a:off x="355600" y="254000"/>
            <a:ext cx="965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100" b="1">
                <a:solidFill>
                  <a:srgbClr val="0B7180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Bridge</a:t>
            </a:r>
            <a:endParaRPr lang="zh-TW" altLang="en-US" sz="1100" b="1">
              <a:solidFill>
                <a:srgbClr val="0B7180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B309B5B-F140-4347-BDD0-EFE2EDB8F14C}"/>
              </a:ext>
            </a:extLst>
          </p:cNvPr>
          <p:cNvSpPr txBox="1"/>
          <p:nvPr/>
        </p:nvSpPr>
        <p:spPr>
          <a:xfrm>
            <a:off x="355600" y="736600"/>
            <a:ext cx="939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銜接 </a:t>
            </a:r>
            <a:r>
              <a:rPr lang="en-US" altLang="zh-TW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PP02</a:t>
            </a:r>
            <a:r>
              <a:rPr lang="zh-TW" altLang="en-US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：從研究流程走向互動式 </a:t>
            </a:r>
            <a:r>
              <a:rPr lang="en-US" altLang="zh-TW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Web3D </a:t>
            </a:r>
            <a:r>
              <a:rPr lang="zh-TW" altLang="en-US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展示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D6E59D9-3219-413D-AABA-11B0BB385E63}"/>
              </a:ext>
            </a:extLst>
          </p:cNvPr>
          <p:cNvSpPr txBox="1"/>
          <p:nvPr/>
        </p:nvSpPr>
        <p:spPr>
          <a:xfrm>
            <a:off x="406400" y="1981200"/>
            <a:ext cx="889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PP01 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建立流程，</a:t>
            </a:r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PP02 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將 </a:t>
            </a:r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IFC/GLB 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與模型展示變成瀏覽器可操作的學術簡報主體。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50FCA0E-A17D-40D2-AFAB-3798328729FE}"/>
              </a:ext>
            </a:extLst>
          </p:cNvPr>
          <p:cNvSpPr/>
          <p:nvPr/>
        </p:nvSpPr>
        <p:spPr>
          <a:xfrm>
            <a:off x="457200" y="3098800"/>
            <a:ext cx="8890000" cy="3149600"/>
          </a:xfrm>
          <a:prstGeom prst="rect">
            <a:avLst/>
          </a:prstGeom>
          <a:solidFill>
            <a:srgbClr val="FFFFFF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F56E975-8961-4BB4-821B-075347AF6E74}"/>
              </a:ext>
            </a:extLst>
          </p:cNvPr>
          <p:cNvSpPr txBox="1"/>
          <p:nvPr/>
        </p:nvSpPr>
        <p:spPr>
          <a:xfrm>
            <a:off x="762000" y="3378200"/>
            <a:ext cx="8255000" cy="830997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PP01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：提出 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AIGC + BIM/IFC + GRC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的研究流程</a:t>
            </a:r>
          </a:p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PP02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：把模型與類 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4D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敘事轉成 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Web3D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展示</a:t>
            </a:r>
          </a:p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PP03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：再把工作流推進到 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MCP + Bonsai BIM 4D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自動化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CA1E499-5730-4745-B0E9-838705F5ABEF}"/>
              </a:ext>
            </a:extLst>
          </p:cNvPr>
          <p:cNvSpPr/>
          <p:nvPr/>
        </p:nvSpPr>
        <p:spPr>
          <a:xfrm>
            <a:off x="10185400" y="1066800"/>
            <a:ext cx="1676400" cy="5181600"/>
          </a:xfrm>
          <a:prstGeom prst="rect">
            <a:avLst/>
          </a:prstGeom>
          <a:solidFill>
            <a:srgbClr val="EDF3F3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>
                <a:solidFill>
                  <a:srgbClr val="0B7180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Next
PP02</a:t>
            </a:r>
            <a:endParaRPr lang="zh-TW" altLang="en-US" sz="2000" b="1">
              <a:solidFill>
                <a:srgbClr val="0B7180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888F19C-8797-4911-BFCB-0193881F8E2D}"/>
              </a:ext>
            </a:extLst>
          </p:cNvPr>
          <p:cNvSpPr txBox="1"/>
          <p:nvPr/>
        </p:nvSpPr>
        <p:spPr>
          <a:xfrm>
            <a:off x="406400" y="6477000"/>
            <a:ext cx="965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8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F:\Resilio\AIGC\Projects\0613Paper\website\PP01_reveal.html</a:t>
            </a:r>
            <a:endParaRPr lang="zh-TW" altLang="en-US" sz="800">
              <a:solidFill>
                <a:srgbClr val="5C6B73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81402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790</Words>
  <Application>Microsoft Office PowerPoint</Application>
  <PresentationFormat>自訂</PresentationFormat>
  <Paragraphs>64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Segoe UI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vizken</dc:creator>
  <cp:lastModifiedBy>vizken</cp:lastModifiedBy>
  <cp:revision>1</cp:revision>
  <dcterms:created xsi:type="dcterms:W3CDTF">2026-06-11T17:16:42Z</dcterms:created>
  <dcterms:modified xsi:type="dcterms:W3CDTF">2026-06-11T17:16:42Z</dcterms:modified>
</cp:coreProperties>
</file>